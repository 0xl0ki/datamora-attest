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AF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887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AF99C"/>
                </a:solidFill>
                <a:latin typeface="SF Mono"/>
              </a:rPr>
              <a:t>██████╗   █████╗  ████████╗  █████╗  ███╗   ███╗  ██████╗  ██████╗   █████╗
██╔══██╗ ██╔══██╗ ╚══██╔══╝ ██╔══██╗ ████╗ ████║ ██╔═══██╗ ██╔══██╗ ██╔══██╗
██║  ██║ ███████║    ██║    ███████║ ██╔████╔██║ ██║   ██║ ██████╔╝ ███████║
██║  ██║ ██╔══██║    ██║    ██╔══██║ ██║╚██╔╝██║ ██║   ██║ ██╔══██╗ ██╔══██║
██████╔╝ ██║  ██║    ██║    ██║  ██║ ██║ ╚═╝ ██║ ╚██████╔╝ ██║  ██║ ██║  ██║
╚═════╝  ╚═╝  ╚═╝    ╚═╝    ╚═╝  ╚═╝ ╚═╝     ╚═╝  ╚═════╝  ╚═╝  ╚═╝ ╚═╝  ╚═╝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0">
                <a:solidFill>
                  <a:srgbClr val="E4EAE5"/>
                </a:solidFill>
                <a:latin typeface="SF Mono"/>
              </a:rPr>
              <a:t>A T T E S T A T I O N   L A Y E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0">
                <a:solidFill>
                  <a:srgbClr val="CAF99C"/>
                </a:solidFill>
                <a:latin typeface="SF Mono"/>
              </a:rPr>
              <a:t>AI 已经在链上替人花钱了 —— 凭什么信它？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888888"/>
                </a:solidFill>
                <a:latin typeface="SF Mono"/>
              </a:rPr>
              <a:t>让自主 Agent 的每一次链上决策：可验证 · 可授权 · 可追责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06060"/>
                </a:solidFill>
                <a:latin typeface="SF Mono"/>
              </a:rPr>
              <a:t>ETH Shenzhen 2026 · 方向 01 Agent 与机器经济 / 03 可验证 AI · Robinhood Chain (L2, chainId 4663)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06060"/>
                </a:solidFill>
                <a:latin typeface="SF Mono"/>
              </a:rPr>
              <a:t>datamora-attest · demo/1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06060"/>
                </a:solidFill>
                <a:latin typeface="SF Mono"/>
              </a:rPr>
              <a:t>1/06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AF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CAF99C"/>
                </a:solidFill>
                <a:latin typeface="SF Mono"/>
              </a:rPr>
              <a:t>&gt; 问题：当 AI Agent 开始自己管钱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CAF99C"/>
                </a:solidFill>
                <a:latin typeface="SF Mono"/>
              </a:rPr>
              <a:t>[01]  它到底干了什么？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888888"/>
                </a:solidFill>
                <a:latin typeface="SF Mono"/>
              </a:rPr>
              <a:t>    不是它嘴上说干了什么 —— 每步操作留一条不可篡改的回执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CAF99C"/>
                </a:solidFill>
                <a:latin typeface="SF Mono"/>
              </a:rPr>
              <a:t>[02]  有没有超出授权？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888888"/>
                </a:solidFill>
                <a:latin typeface="SF Mono"/>
              </a:rPr>
              <a:t>    策略哈希内嵌在回执里，策略一变哈希就变，旧授权自动失效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CAF99C"/>
                </a:solidFill>
                <a:latin typeface="SF Mono"/>
              </a:rPr>
              <a:t>[03]  事后能查、能追责吗？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888888"/>
                </a:solidFill>
                <a:latin typeface="SF Mono"/>
              </a:rPr>
              <a:t>    一批回执压成 Merkle root 锚上链，带时间戳，删不掉、改不了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4EAE5"/>
                </a:solidFill>
                <a:latin typeface="SF Mono"/>
              </a:rPr>
              <a:t>答案不是「更聪明的 AI」，而是「不可篡改的账本 + 授权凭证」。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06060"/>
                </a:solidFill>
                <a:latin typeface="SF Mono"/>
              </a:rPr>
              <a:t>datamora-attest · demo/2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06060"/>
                </a:solidFill>
                <a:latin typeface="SF Mono"/>
              </a:rPr>
              <a:t>2/06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AF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CAF99C"/>
                </a:solidFill>
                <a:latin typeface="SF Mono"/>
              </a:rPr>
              <a:t>&gt; 30 秒走完五个动作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0">
                <a:solidFill>
                  <a:srgbClr val="CAF99C"/>
                </a:solidFill>
                <a:latin typeface="SF Mono"/>
              </a:rPr>
              <a:t>①  存证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888888"/>
                </a:solidFill>
                <a:latin typeface="SF Mono"/>
              </a:rPr>
              <a:t>    一次 Agent 执行 → 自验证 receipt    —  策略哈希 + 输入指纹 + 链上状态，改一个字哈希就崩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87168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0">
                <a:solidFill>
                  <a:srgbClr val="CAF99C"/>
                </a:solidFill>
                <a:latin typeface="SF Mono"/>
              </a:rPr>
              <a:t>②  验真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888888"/>
                </a:solidFill>
                <a:latin typeface="SF Mono"/>
              </a:rPr>
              <a:t>    任何人离线复算哈希    —  篡改立即被 policy_hash_mismatch 检出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19856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0">
                <a:solidFill>
                  <a:srgbClr val="CAF99C"/>
                </a:solidFill>
                <a:latin typeface="SF Mono"/>
              </a:rPr>
              <a:t>③  付费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888888"/>
                </a:solidFill>
                <a:latin typeface="SF Mono"/>
              </a:rPr>
              <a:t>    x402 按次付费信号    —  HTTP 402 → 支付 → 拿到的是可验证信号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52544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0">
                <a:solidFill>
                  <a:srgbClr val="CAF99C"/>
                </a:solidFill>
                <a:latin typeface="SF Mono"/>
              </a:rPr>
              <a:t>④  上链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888888"/>
                </a:solidFill>
                <a:latin typeface="SF Mono"/>
              </a:rPr>
              <a:t>    批量 receipt → Merkle root    —  一笔 tx 锚定，获得链上时间戳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85231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0">
                <a:solidFill>
                  <a:srgbClr val="CAF99C"/>
                </a:solidFill>
                <a:latin typeface="SF Mono"/>
              </a:rPr>
              <a:t>⑤  链上可验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888888"/>
                </a:solidFill>
                <a:latin typeface="SF Mono"/>
              </a:rPr>
              <a:t>    合约 verifyProof    —  证明单条 receipt 就在链上那个 root 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06060"/>
                </a:solidFill>
                <a:latin typeface="SF Mono"/>
              </a:rPr>
              <a:t>datamora-attest · demo/3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06060"/>
                </a:solidFill>
                <a:latin typeface="SF Mono"/>
              </a:rPr>
              <a:t>3/06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AF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CAF99C"/>
                </a:solidFill>
                <a:latin typeface="SF Mono"/>
              </a:rPr>
              <a:t>&gt; 现场怎么演示？要不要上真链？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AF99C"/>
                </a:solidFill>
                <a:latin typeface="SF Mono"/>
              </a:rPr>
              <a:t>主方案：本地链（已部署，零风险）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888888"/>
                </a:solidFill>
                <a:latin typeface="SF Mono"/>
              </a:rPr>
              <a:t>  本地 EVM · chainId 4663（镜像 Robinhood Chain）· 合约已部署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888888"/>
                </a:solidFill>
                <a:latin typeface="SF Mono"/>
              </a:rPr>
              <a:t>  ATTEST (LIVE) 就是真发一笔 tx —— 屏幕滚出 txHash + blockNumber，不是 PPT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888888"/>
                </a:solidFill>
                <a:latin typeface="SF Mono"/>
              </a:rPr>
              <a:t>  完全离线 · 零 gas · 零资金风险 · 不赌会场 WiFi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E4EAE5"/>
                </a:solidFill>
                <a:latin typeface="SF Mono"/>
              </a:rPr>
              <a:t>加分项：真链锚定（可选）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888888"/>
                </a:solidFill>
                <a:latin typeface="SF Mono"/>
              </a:rPr>
              <a:t>  赛前把 AttestationAnchor 也部署到公开测试网 / 主网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888888"/>
                </a:solidFill>
                <a:latin typeface="SF Mono"/>
              </a:rPr>
              <a:t>  那次 tx hash + 浏览器链接贴进 PPT 当旁证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888888"/>
                </a:solidFill>
                <a:latin typeface="SF Mono"/>
              </a:rPr>
              <a:t>  现场没网也不慌 —— 本地链照常走，真链截图兜底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06060"/>
                </a:solidFill>
                <a:latin typeface="SF Mono"/>
              </a:rPr>
              <a:t>datamora-attest · demo/4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06060"/>
                </a:solidFill>
                <a:latin typeface="SF Mono"/>
              </a:rPr>
              <a:t>4/06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AF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CAF99C"/>
                </a:solidFill>
                <a:latin typeface="SF Mono"/>
              </a:rPr>
              <a:t>&gt; 为什么这不是 PPT，是跑通的机制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0">
                <a:solidFill>
                  <a:srgbClr val="E4EAE5"/>
                </a:solidFill>
                <a:latin typeface="SF Mono"/>
              </a:rPr>
              <a:t>▪ 自实现 Keccak-256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888888"/>
                </a:solidFill>
                <a:latin typeface="SF Mono"/>
              </a:rPr>
              <a:t>    3 个已知向量校验，EVM 原生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04288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0">
                <a:solidFill>
                  <a:srgbClr val="E4EAE5"/>
                </a:solidFill>
                <a:latin typeface="SF Mono"/>
              </a:rPr>
              <a:t>▪ 排序对 Merkle + 补齐 2 的幂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888888"/>
                </a:solidFill>
                <a:latin typeface="SF Mono"/>
              </a:rPr>
              <a:t>    off-chain JS 与 on-chain Solidity 同构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54096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0">
                <a:solidFill>
                  <a:srgbClr val="E4EAE5"/>
                </a:solidFill>
                <a:latin typeface="SF Mono"/>
              </a:rPr>
              <a:t>▪ 链上 verifyProof / verifyReceipt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888888"/>
                </a:solidFill>
                <a:latin typeface="SF Mono"/>
              </a:rPr>
              <a:t>    单条 receipt 的成员证明，合约实跑返回 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03904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0">
                <a:solidFill>
                  <a:srgbClr val="E4EAE5"/>
                </a:solidFill>
                <a:latin typeface="SF Mono"/>
              </a:rPr>
              <a:t>▪ 自验证 receipt（sha256 规范序列化）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888888"/>
                </a:solidFill>
                <a:latin typeface="SF Mono"/>
              </a:rPr>
              <a:t>    无需信任注册表，任何第三方离线复算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53712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0">
                <a:solidFill>
                  <a:srgbClr val="E4EAE5"/>
                </a:solidFill>
                <a:latin typeface="SF Mono"/>
              </a:rPr>
              <a:t>▪ x402 付费信号 + HMAC 回执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888888"/>
                </a:solidFill>
                <a:latin typeface="SF Mono"/>
              </a:rPr>
              <a:t>    按次付费，拿到的是可验证信号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0">
                <a:solidFill>
                  <a:srgbClr val="E4EAE5"/>
                </a:solidFill>
                <a:latin typeface="SF Mono"/>
              </a:rPr>
              <a:t>▪ 跨语言 canonical（Node == Python）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888888"/>
                </a:solidFill>
                <a:latin typeface="SF Mono"/>
              </a:rPr>
              <a:t>    同一 digest，坐实「无信任第三方可验」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06060"/>
                </a:solidFill>
                <a:latin typeface="SF Mono"/>
              </a:rPr>
              <a:t>datamora-attest · demo/5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06060"/>
                </a:solidFill>
                <a:latin typeface="SF Mono"/>
              </a:rPr>
              <a:t>5/06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AF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887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06060"/>
                </a:solidFill>
                <a:latin typeface="SF Mono"/>
              </a:rPr>
              <a:t>██████╗   █████╗  ████████╗  █████╗  ███╗   ███╗  ██████╗  ██████╗   █████╗
██╔══██╗ ██╔══██╗ ╚══██╔══╝ ██╔══██╗ ████╗ ████║ ██╔═══██╗ ██╔══██╗ ██╔══██╗
██║  ██║ ███████║    ██║    ███████║ ██╔████╔██║ ██║   ██║ ██████╔╝ ███████║
██║  ██║ ██╔══██║    ██║    ██╔══██║ ██║╚██╔╝██║ ██║   ██║ ██╔══██╗ ██╔══██║
██████╔╝ ██║  ██║    ██║    ██║  ██║ ██║ ╚═╝ ██║ ╚██████╔╝ ██║  ██║ ██║  ██║
╚═════╝  ╚═╝  ╚═╝    ╚═╝    ╚═╝  ╚═╝ ╚═╝     ╚═╝  ╚═════╝  ╚═╝  ╚═╝ ╚═╝  ╚═╝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0">
                <a:solidFill>
                  <a:srgbClr val="CAF99C"/>
                </a:solidFill>
                <a:latin typeface="SF Mono"/>
              </a:rPr>
              <a:t>让 AI 花钱这件事：可信、可追责。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CAF99C"/>
                </a:solidFill>
                <a:latin typeface="SF Mono"/>
              </a:rPr>
              <a:t>存证 → 聚合 → 上链 → 链上可验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06060"/>
                </a:solidFill>
                <a:latin typeface="SF Mono"/>
              </a:rPr>
              <a:t>GitHub 已开源 · README 含技术栈与运行方式 · 现场 Demo 见 http://127.0.0.1:8787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06060"/>
                </a:solidFill>
                <a:latin typeface="SF Mono"/>
              </a:rPr>
              <a:t>datamora-attest · demo/6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06060"/>
                </a:solidFill>
                <a:latin typeface="SF Mono"/>
              </a:rPr>
              <a:t>6/06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